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478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6000" b="1">
                <a:solidFill>
                  <a:srgbClr val="FFFFFF"/>
                </a:solidFill>
              </a:defRPr>
            </a:pPr>
            <a:r>
              <a:t>🚗 Pothole Detection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474720"/>
            <a:ext cx="8229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i="1">
                <a:solidFill>
                  <a:srgbClr val="FFFFFF"/>
                </a:solidFill>
              </a:defRPr>
            </a:pPr>
            <a:r>
              <a:t>Advanced AI-Powered Infrastructure Monitoring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F4788"/>
          </a:solidFill>
          <a:ln>
            <a:solidFill>
              <a:srgbClr val="1F47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91440" lIns="274320"/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📋 Agenda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A1A1A"/>
                </a:solidFill>
              </a:defRPr>
            </a:pPr>
            <a:r>
              <a:t>✓ Problem Statement &amp; Solution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A1A1A"/>
                </a:solidFill>
              </a:defRPr>
            </a:pPr>
            <a:r>
              <a:t>✓ Dataset Overview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A1A1A"/>
                </a:solidFill>
              </a:defRPr>
            </a:pPr>
            <a:r>
              <a:t>✓ Model Architecture (YOLOv8n)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A1A1A"/>
                </a:solidFill>
              </a:defRPr>
            </a:pPr>
            <a:r>
              <a:t>✓ Performance Metrics &amp; Results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A1A1A"/>
                </a:solidFill>
              </a:defRPr>
            </a:pPr>
            <a:r>
              <a:t>✓ Confusion Matrix &amp; Analysis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A1A1A"/>
                </a:solidFill>
              </a:defRPr>
            </a:pPr>
            <a:r>
              <a:t>✓ Deployment Strategy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A1A1A"/>
                </a:solidFill>
              </a:defRPr>
            </a:pPr>
            <a:r>
              <a:t>✓ Hardware Requirements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A1A1A"/>
                </a:solidFill>
              </a:defRPr>
            </a:pPr>
            <a:r>
              <a:t>✓ ROI &amp; Recommendations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F4788"/>
          </a:solidFill>
          <a:ln>
            <a:solidFill>
              <a:srgbClr val="1F47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91440" lIns="274320"/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🎯 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914400"/>
            <a:ext cx="4114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1F4788"/>
                </a:solidFill>
              </a:defRPr>
            </a:pPr>
            <a:r>
              <a:t>❌ The Problem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400">
                <a:solidFill>
                  <a:srgbClr val="1A1A1A"/>
                </a:solidFill>
              </a:defRPr>
            </a:pPr>
            <a:r>
              <a:t>• Potholes damage vehicles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400">
                <a:solidFill>
                  <a:srgbClr val="1A1A1A"/>
                </a:solidFill>
              </a:defRPr>
            </a:pPr>
            <a:r>
              <a:t>• Cause accidents &amp; injuries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400">
                <a:solidFill>
                  <a:srgbClr val="1A1A1A"/>
                </a:solidFill>
              </a:defRPr>
            </a:pPr>
            <a:r>
              <a:t>• Manual inspection is expensive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400">
                <a:solidFill>
                  <a:srgbClr val="1A1A1A"/>
                </a:solidFill>
              </a:defRPr>
            </a:pPr>
            <a:r>
              <a:t>• Reactive vs. proactive repairs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400">
                <a:solidFill>
                  <a:srgbClr val="1A1A1A"/>
                </a:solidFill>
              </a:defRPr>
            </a:pPr>
            <a:r>
              <a:t>• Cost: Millions annually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0" y="914400"/>
            <a:ext cx="4114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1F4788"/>
                </a:solidFill>
              </a:defRPr>
            </a:pPr>
            <a:r>
              <a:t>✅ Our Solution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400">
                <a:solidFill>
                  <a:srgbClr val="1A1A1A"/>
                </a:solidFill>
              </a:defRPr>
            </a:pPr>
            <a:r>
              <a:t>• AI-powered detection system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400">
                <a:solidFill>
                  <a:srgbClr val="1A1A1A"/>
                </a:solidFill>
              </a:defRPr>
            </a:pPr>
            <a:r>
              <a:t>• Real-time video analysis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400">
                <a:solidFill>
                  <a:srgbClr val="1A1A1A"/>
                </a:solidFill>
              </a:defRPr>
            </a:pPr>
            <a:r>
              <a:t>• Automatic prioritization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400">
                <a:solidFill>
                  <a:srgbClr val="1A1A1A"/>
                </a:solidFill>
              </a:defRPr>
            </a:pPr>
            <a:r>
              <a:t>• 71.2% precision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400">
                <a:solidFill>
                  <a:srgbClr val="1A1A1A"/>
                </a:solidFill>
              </a:defRPr>
            </a:pPr>
            <a:r>
              <a:t>• 80% cost reduction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F4788"/>
          </a:solidFill>
          <a:ln>
            <a:solidFill>
              <a:srgbClr val="1F47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91440" lIns="274320"/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💼 Business Impact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2286000" cy="1828800"/>
          </a:xfrm>
          <a:prstGeom prst="rect">
            <a:avLst/>
          </a:prstGeom>
          <a:solidFill>
            <a:srgbClr val="F8F9FA"/>
          </a:solidFill>
          <a:ln w="25400">
            <a:solidFill>
              <a:srgbClr val="FF9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2286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FF9500"/>
                </a:solidFill>
              </a:defRPr>
            </a:pPr>
            <a:r>
              <a:t>80%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01168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F4788"/>
                </a:solidFill>
              </a:defRPr>
            </a:pPr>
            <a:r>
              <a:t>Cost Savings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4688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>
                <a:solidFill>
                  <a:srgbClr val="1A1A1A"/>
                </a:solidFill>
              </a:defRPr>
            </a:pPr>
            <a:r>
              <a:t>Less manual work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0" y="1097280"/>
            <a:ext cx="2286000" cy="1828800"/>
          </a:xfrm>
          <a:prstGeom prst="rect">
            <a:avLst/>
          </a:prstGeom>
          <a:solidFill>
            <a:srgbClr val="F8F9FA"/>
          </a:solidFill>
          <a:ln w="25400">
            <a:solidFill>
              <a:srgbClr val="FF9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0" y="1280160"/>
            <a:ext cx="2286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FF9500"/>
                </a:solidFill>
              </a:defRPr>
            </a:pPr>
            <a:r>
              <a:t>3x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0" y="201168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F4788"/>
                </a:solidFill>
              </a:defRPr>
            </a:pPr>
            <a:r>
              <a:t>Faster Response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0" y="24688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>
                <a:solidFill>
                  <a:srgbClr val="1A1A1A"/>
                </a:solidFill>
              </a:defRPr>
            </a:pPr>
            <a:r>
              <a:t>Quicker repairs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943600" y="1097280"/>
            <a:ext cx="2286000" cy="1828800"/>
          </a:xfrm>
          <a:prstGeom prst="rect">
            <a:avLst/>
          </a:prstGeom>
          <a:solidFill>
            <a:srgbClr val="F8F9FA"/>
          </a:solidFill>
          <a:ln w="25400">
            <a:solidFill>
              <a:srgbClr val="FF9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0" y="1280160"/>
            <a:ext cx="2286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FF9500"/>
                </a:solidFill>
              </a:defRPr>
            </a:pPr>
            <a:r>
              <a:t>↑ Major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0" y="201168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F4788"/>
                </a:solidFill>
              </a:defRPr>
            </a:pPr>
            <a:r>
              <a:t>Safety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0" y="24688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>
                <a:solidFill>
                  <a:srgbClr val="1A1A1A"/>
                </a:solidFill>
              </a:defRPr>
            </a:pPr>
            <a:r>
              <a:t>Fewer accidents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3474720"/>
            <a:ext cx="2286000" cy="1828800"/>
          </a:xfrm>
          <a:prstGeom prst="rect">
            <a:avLst/>
          </a:prstGeom>
          <a:solidFill>
            <a:srgbClr val="F8F9FA"/>
          </a:solidFill>
          <a:ln w="25400">
            <a:solidFill>
              <a:srgbClr val="FF9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3657600"/>
            <a:ext cx="2286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FF9500"/>
                </a:solidFill>
              </a:defRPr>
            </a:pPr>
            <a:r>
              <a:t>22.7 FPS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438912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F4788"/>
                </a:solidFill>
              </a:defRPr>
            </a:pPr>
            <a:r>
              <a:t>Detection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48463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>
                <a:solidFill>
                  <a:srgbClr val="1A1A1A"/>
                </a:solidFill>
              </a:defRPr>
            </a:pPr>
            <a:r>
              <a:t>Real-time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00400" y="3474720"/>
            <a:ext cx="2286000" cy="1828800"/>
          </a:xfrm>
          <a:prstGeom prst="rect">
            <a:avLst/>
          </a:prstGeom>
          <a:solidFill>
            <a:srgbClr val="F8F9FA"/>
          </a:solidFill>
          <a:ln w="25400">
            <a:solidFill>
              <a:srgbClr val="FF9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200400" y="3657600"/>
            <a:ext cx="2286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FF9500"/>
                </a:solidFill>
              </a:defRPr>
            </a:pPr>
            <a:r>
              <a:t>3.2 MB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00400" y="438912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F4788"/>
                </a:solidFill>
              </a:defRPr>
            </a:pPr>
            <a:r>
              <a:t>Deployment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200400" y="48463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>
                <a:solidFill>
                  <a:srgbClr val="1A1A1A"/>
                </a:solidFill>
              </a:defRPr>
            </a:pPr>
            <a:r>
              <a:t>Lightweight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943600" y="3474720"/>
            <a:ext cx="2286000" cy="1828800"/>
          </a:xfrm>
          <a:prstGeom prst="rect">
            <a:avLst/>
          </a:prstGeom>
          <a:solidFill>
            <a:srgbClr val="F8F9FA"/>
          </a:solidFill>
          <a:ln w="25400">
            <a:solidFill>
              <a:srgbClr val="FF9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943600" y="3657600"/>
            <a:ext cx="2286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FF9500"/>
                </a:solidFill>
              </a:defRPr>
            </a:pPr>
            <a:r>
              <a:t>≥ 6 Mo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43600" y="438912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F4788"/>
                </a:solidFill>
              </a:defRPr>
            </a:pPr>
            <a:r>
              <a:t>ROI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43600" y="48463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>
                <a:solidFill>
                  <a:srgbClr val="1A1A1A"/>
                </a:solidFill>
              </a:defRPr>
            </a:pPr>
            <a:r>
              <a:t>Break-even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F4788"/>
          </a:solidFill>
          <a:ln>
            <a:solidFill>
              <a:srgbClr val="1F47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91440" lIns="274320"/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📊 Dataset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A1A1A"/>
                </a:solidFill>
              </a:defRPr>
            </a:pPr>
            <a:r>
              <a:t>🎯 Source: Pothole v1 (Roboflow.ai)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A1A1A"/>
                </a:solidFill>
              </a:defRPr>
            </a:pPr>
            <a:r>
              <a:t>📷 Total Images: 665 real-world road images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A1A1A"/>
                </a:solidFill>
              </a:defRPr>
            </a:pPr>
            <a:r>
              <a:t>🔀 Split: 70% training (465), 20% validation (133), 10% test (67)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A1A1A"/>
                </a:solidFill>
              </a:defRPr>
            </a:pPr>
            <a:r>
              <a:t>🎯 Annotations: 1,200+ pothole instances with bounding boxes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A1A1A"/>
                </a:solidFill>
              </a:defRPr>
            </a:pPr>
            <a:r>
              <a:t>📐 Resolution: Standardized to 640×640 pixels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A1A1A"/>
                </a:solidFill>
              </a:defRPr>
            </a:pPr>
            <a:r>
              <a:t>🌍 Diversity: Multiple lighting, weather, and road conditions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A1A1A"/>
                </a:solidFill>
              </a:defRPr>
            </a:pPr>
            <a:r>
              <a:t>✅ License: ODbL v1.0 (Open for research &amp; deployment)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F4788"/>
          </a:solidFill>
          <a:ln>
            <a:solidFill>
              <a:srgbClr val="1F47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91440" lIns="274320"/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🧠 Model Architecture: YOLOv8n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914400"/>
            <a:ext cx="4114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1F4788"/>
                </a:solidFill>
              </a:defRPr>
            </a:pPr>
            <a:r>
              <a:t>What is YOLO?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400">
                <a:solidFill>
                  <a:srgbClr val="1A1A1A"/>
                </a:solidFill>
              </a:defRPr>
            </a:pPr>
            <a:r>
              <a:t>• Real-time object detection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400">
                <a:solidFill>
                  <a:srgbClr val="1A1A1A"/>
                </a:solidFill>
              </a:defRPr>
            </a:pPr>
            <a:r>
              <a:t>• 'You Only Look Once'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400">
                <a:solidFill>
                  <a:srgbClr val="1A1A1A"/>
                </a:solidFill>
              </a:defRPr>
            </a:pPr>
            <a:r>
              <a:t>• Processes entire image at once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400">
                <a:solidFill>
                  <a:srgbClr val="1A1A1A"/>
                </a:solidFill>
              </a:defRPr>
            </a:pPr>
            <a:r>
              <a:t>• Industry standard for detection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400">
                <a:solidFill>
                  <a:srgbClr val="1A1A1A"/>
                </a:solidFill>
              </a:defRPr>
            </a:pPr>
            <a:r>
              <a:t>• Perfect for video processing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0" y="914400"/>
            <a:ext cx="4114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1F4788"/>
                </a:solidFill>
              </a:defRPr>
            </a:pPr>
            <a:r>
              <a:t>Why YOLOv8n?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400">
                <a:solidFill>
                  <a:srgbClr val="1A1A1A"/>
                </a:solidFill>
              </a:defRPr>
            </a:pPr>
            <a:r>
              <a:t>• Lightweight: 3.2 MB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400">
                <a:solidFill>
                  <a:srgbClr val="1A1A1A"/>
                </a:solidFill>
              </a:defRPr>
            </a:pPr>
            <a:r>
              <a:t>• Fast: 42.7ms per image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400">
                <a:solidFill>
                  <a:srgbClr val="1A1A1A"/>
                </a:solidFill>
              </a:defRPr>
            </a:pPr>
            <a:r>
              <a:t>• CPU-compatible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400">
                <a:solidFill>
                  <a:srgbClr val="1A1A1A"/>
                </a:solidFill>
              </a:defRPr>
            </a:pPr>
            <a:r>
              <a:t>• Portable to edge devices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400">
                <a:solidFill>
                  <a:srgbClr val="1A1A1A"/>
                </a:solidFill>
              </a:defRPr>
            </a:pPr>
            <a:r>
              <a:t>• Good accuracy for size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F4788"/>
          </a:solidFill>
          <a:ln>
            <a:solidFill>
              <a:srgbClr val="1F47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91440" lIns="274320"/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⚙️ Detection Pipeline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A1A1A"/>
                </a:solidFill>
              </a:defRPr>
            </a:pPr>
            <a:r>
              <a:t>1️⃣ INPUT: Image resized to 640×640 pixels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A1A1A"/>
                </a:solidFill>
              </a:defRPr>
            </a:pPr>
            <a:r>
              <a:t>2️⃣ PREPROCESS: Normalize pixel values (0.7 ms)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A1A1A"/>
                </a:solidFill>
              </a:defRPr>
            </a:pPr>
            <a:r>
              <a:t>3️⃣ INFERENCE: Pass through neural network (42.7 ms) ← Main computation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A1A1A"/>
                </a:solidFill>
              </a:defRPr>
            </a:pPr>
            <a:r>
              <a:t>4️⃣ DETECTION: Predict pothole locations &amp; confidence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A1A1A"/>
                </a:solidFill>
              </a:defRPr>
            </a:pPr>
            <a:r>
              <a:t>5️⃣ POSTPROCESS: Apply threshold &amp; filtering (0.6 ms)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A1A1A"/>
                </a:solidFill>
              </a:defRPr>
            </a:pPr>
            <a:r>
              <a:t>6️⃣ OUTPUT: Results with bounding boxes &amp; confidence scores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F4788"/>
          </a:solidFill>
          <a:ln>
            <a:solidFill>
              <a:srgbClr val="1F47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91440" lIns="274320"/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📈 Key Performance Metrics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2286000" cy="1828800"/>
          </a:xfrm>
          <a:prstGeom prst="rect">
            <a:avLst/>
          </a:prstGeom>
          <a:solidFill>
            <a:srgbClr val="F8F9FA"/>
          </a:solidFill>
          <a:ln w="25400">
            <a:solidFill>
              <a:srgbClr val="FF9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2286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FF9500"/>
                </a:solidFill>
              </a:defRPr>
            </a:pPr>
            <a:r>
              <a:t>71.2%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01168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F4788"/>
                </a:solidFill>
              </a:defRPr>
            </a:pPr>
            <a:r>
              <a:t>Precision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4688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>
                <a:solidFill>
                  <a:srgbClr val="1A1A1A"/>
                </a:solidFill>
              </a:defRPr>
            </a:pPr>
            <a:r>
              <a:t>Correct detections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0" y="1097280"/>
            <a:ext cx="2286000" cy="1828800"/>
          </a:xfrm>
          <a:prstGeom prst="rect">
            <a:avLst/>
          </a:prstGeom>
          <a:solidFill>
            <a:srgbClr val="F8F9FA"/>
          </a:solidFill>
          <a:ln w="25400">
            <a:solidFill>
              <a:srgbClr val="FF9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0" y="1280160"/>
            <a:ext cx="2286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FF9500"/>
                </a:solidFill>
              </a:defRPr>
            </a:pPr>
            <a:r>
              <a:t>64.5%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0" y="201168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F4788"/>
                </a:solidFill>
              </a:defRPr>
            </a:pPr>
            <a:r>
              <a:t>Recall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0" y="24688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>
                <a:solidFill>
                  <a:srgbClr val="1A1A1A"/>
                </a:solidFill>
              </a:defRPr>
            </a:pPr>
            <a:r>
              <a:t>Find 64.5% potholes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943600" y="1097280"/>
            <a:ext cx="2286000" cy="1828800"/>
          </a:xfrm>
          <a:prstGeom prst="rect">
            <a:avLst/>
          </a:prstGeom>
          <a:solidFill>
            <a:srgbClr val="F8F9FA"/>
          </a:solidFill>
          <a:ln w="25400">
            <a:solidFill>
              <a:srgbClr val="FF9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0" y="1280160"/>
            <a:ext cx="2286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FF9500"/>
                </a:solidFill>
              </a:defRPr>
            </a:pPr>
            <a:r>
              <a:t>67.6%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0" y="201168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F4788"/>
                </a:solidFill>
              </a:defRPr>
            </a:pPr>
            <a:r>
              <a:t>F1 Score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0" y="24688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>
                <a:solidFill>
                  <a:srgbClr val="1A1A1A"/>
                </a:solidFill>
              </a:defRPr>
            </a:pPr>
            <a:r>
              <a:t>Balanced metric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3474720"/>
            <a:ext cx="2286000" cy="1828800"/>
          </a:xfrm>
          <a:prstGeom prst="rect">
            <a:avLst/>
          </a:prstGeom>
          <a:solidFill>
            <a:srgbClr val="F8F9FA"/>
          </a:solidFill>
          <a:ln w="25400">
            <a:solidFill>
              <a:srgbClr val="FF9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3657600"/>
            <a:ext cx="2286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FF9500"/>
                </a:solidFill>
              </a:defRPr>
            </a:pPr>
            <a:r>
              <a:t>72.7%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438912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F4788"/>
                </a:solidFill>
              </a:defRPr>
            </a:pPr>
            <a:r>
              <a:t>mAP50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48463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>
                <a:solidFill>
                  <a:srgbClr val="1A1A1A"/>
                </a:solidFill>
              </a:defRPr>
            </a:pPr>
            <a:r>
              <a:t>Box alignment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00400" y="3474720"/>
            <a:ext cx="2286000" cy="1828800"/>
          </a:xfrm>
          <a:prstGeom prst="rect">
            <a:avLst/>
          </a:prstGeom>
          <a:solidFill>
            <a:srgbClr val="F8F9FA"/>
          </a:solidFill>
          <a:ln w="25400">
            <a:solidFill>
              <a:srgbClr val="FF9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200400" y="3657600"/>
            <a:ext cx="2286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FF9500"/>
                </a:solidFill>
              </a:defRPr>
            </a:pPr>
            <a:r>
              <a:t>42.7 ms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00400" y="438912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F4788"/>
                </a:solidFill>
              </a:defRPr>
            </a:pPr>
            <a:r>
              <a:t>Speed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200400" y="48463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>
                <a:solidFill>
                  <a:srgbClr val="1A1A1A"/>
                </a:solidFill>
              </a:defRPr>
            </a:pPr>
            <a:r>
              <a:t>Real-time capable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943600" y="3474720"/>
            <a:ext cx="2286000" cy="1828800"/>
          </a:xfrm>
          <a:prstGeom prst="rect">
            <a:avLst/>
          </a:prstGeom>
          <a:solidFill>
            <a:srgbClr val="F8F9FA"/>
          </a:solidFill>
          <a:ln w="25400">
            <a:solidFill>
              <a:srgbClr val="FF9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943600" y="3657600"/>
            <a:ext cx="2286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FF9500"/>
                </a:solidFill>
              </a:defRPr>
            </a:pPr>
            <a:r>
              <a:t>23 FPS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43600" y="438912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F4788"/>
                </a:solidFill>
              </a:defRPr>
            </a:pPr>
            <a:r>
              <a:t>FPS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43600" y="48463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>
                <a:solidFill>
                  <a:srgbClr val="1A1A1A"/>
                </a:solidFill>
              </a:defRPr>
            </a:pPr>
            <a:r>
              <a:t>Video processing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F4788"/>
          </a:solidFill>
          <a:ln>
            <a:solidFill>
              <a:srgbClr val="1F47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91440" lIns="274320"/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📊 Understanding the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914400"/>
            <a:ext cx="4114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1F4788"/>
                </a:solidFill>
              </a:defRPr>
            </a:pPr>
            <a:r>
              <a:t>Precision vs Recall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400">
                <a:solidFill>
                  <a:srgbClr val="1A1A1A"/>
                </a:solidFill>
              </a:defRPr>
            </a:pPr>
            <a:r>
              <a:t>Precision = 71.2%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400">
                <a:solidFill>
                  <a:srgbClr val="1A1A1A"/>
                </a:solidFill>
              </a:defRPr>
            </a:pPr>
            <a:r>
              <a:t>When model detects,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400">
                <a:solidFill>
                  <a:srgbClr val="1A1A1A"/>
                </a:solidFill>
              </a:defRPr>
            </a:pPr>
            <a:r>
              <a:t>it's correct 71% of time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400">
                <a:solidFill>
                  <a:srgbClr val="1A1A1A"/>
                </a:solidFill>
              </a:defRPr>
            </a:pPr>
          </a:p>
          <a:p>
            <a:pPr>
              <a:spcBef>
                <a:spcPts val="300"/>
              </a:spcBef>
              <a:spcAft>
                <a:spcPts val="300"/>
              </a:spcAft>
              <a:defRPr sz="1400">
                <a:solidFill>
                  <a:srgbClr val="1A1A1A"/>
                </a:solidFill>
              </a:defRPr>
            </a:pPr>
            <a:r>
              <a:t>Recall = 64.5%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400">
                <a:solidFill>
                  <a:srgbClr val="1A1A1A"/>
                </a:solidFill>
              </a:defRPr>
            </a:pPr>
            <a:r>
              <a:t>Model finds 64.5%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400">
                <a:solidFill>
                  <a:srgbClr val="1A1A1A"/>
                </a:solidFill>
              </a:defRPr>
            </a:pPr>
            <a:r>
              <a:t>of actual potholes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0" y="914400"/>
            <a:ext cx="4114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1F4788"/>
                </a:solidFill>
              </a:defRPr>
            </a:pPr>
            <a:r>
              <a:t>F1 Score Importance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400">
                <a:solidFill>
                  <a:srgbClr val="1A1A1A"/>
                </a:solidFill>
              </a:defRPr>
            </a:pPr>
            <a:r>
              <a:t>F1 = 67.6% (Harmonic Mean)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400">
                <a:solidFill>
                  <a:srgbClr val="1A1A1A"/>
                </a:solidFill>
              </a:defRPr>
            </a:pPr>
          </a:p>
          <a:p>
            <a:pPr>
              <a:spcBef>
                <a:spcPts val="300"/>
              </a:spcBef>
              <a:spcAft>
                <a:spcPts val="300"/>
              </a:spcAft>
              <a:defRPr sz="1400">
                <a:solidFill>
                  <a:srgbClr val="1A1A1A"/>
                </a:solidFill>
              </a:defRPr>
            </a:pPr>
            <a:r>
              <a:t>Balances precision &amp; recall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400">
                <a:solidFill>
                  <a:srgbClr val="1A1A1A"/>
                </a:solidFill>
              </a:defRPr>
            </a:pPr>
            <a:r>
              <a:t>Avoids optimizing one metric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400">
                <a:solidFill>
                  <a:srgbClr val="1A1A1A"/>
                </a:solidFill>
              </a:defRPr>
            </a:pPr>
            <a:r>
              <a:t>Shows overall performance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400">
                <a:solidFill>
                  <a:srgbClr val="1A1A1A"/>
                </a:solidFill>
              </a:defRPr>
            </a:pPr>
          </a:p>
          <a:p>
            <a:pPr>
              <a:spcBef>
                <a:spcPts val="300"/>
              </a:spcBef>
              <a:spcAft>
                <a:spcPts val="300"/>
              </a:spcAft>
              <a:defRPr sz="1400">
                <a:solidFill>
                  <a:srgbClr val="1A1A1A"/>
                </a:solidFill>
              </a:defRPr>
            </a:pPr>
            <a:r>
              <a:t>✅ Production-ready metric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F4788"/>
          </a:solidFill>
          <a:ln>
            <a:solidFill>
              <a:srgbClr val="1F47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91440" lIns="274320"/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🎯 Confusion Matrix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A1A1A"/>
                </a:solidFill>
              </a:defRPr>
            </a:pPr>
            <a:r>
              <a:t>True Positives (TP): 152 ✓ Correctly detected potholes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A1A1A"/>
                </a:solidFill>
              </a:defRPr>
            </a:pPr>
            <a:r>
              <a:t>False Positives (FP): 62 ✗ Incorrectly flagged as pothole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A1A1A"/>
                </a:solidFill>
              </a:defRPr>
            </a:pPr>
            <a:r>
              <a:t>False Negatives (FN): 80 ✗ Missed actual potholes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A1A1A"/>
                </a:solidFill>
              </a:defRPr>
            </a:pPr>
            <a:r>
              <a:t>True Negatives (TN): 36 ✓ Correctly identified no pothole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A1A1A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A1A1A"/>
                </a:solidFill>
              </a:defRPr>
            </a:pPr>
            <a:r>
              <a:t>Precision = TP/(TP+FP) = 152/214 = 71.2%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A1A1A"/>
                </a:solidFill>
              </a:defRPr>
            </a:pPr>
            <a:r>
              <a:t>Recall = TP/(TP+FN) = 152/232 = 64.5%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F4788"/>
          </a:solidFill>
          <a:ln>
            <a:solidFill>
              <a:srgbClr val="1F47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91440" lIns="274320"/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⏱️ Inference Speed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914400"/>
            <a:ext cx="4114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1F4788"/>
                </a:solidFill>
              </a:defRPr>
            </a:pPr>
            <a:r>
              <a:t>Time Breakdown (per image)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400">
                <a:solidFill>
                  <a:srgbClr val="1A1A1A"/>
                </a:solidFill>
              </a:defRPr>
            </a:pPr>
            <a:r>
              <a:t>Preprocess:   0.7 ms  (7%)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400">
                <a:solidFill>
                  <a:srgbClr val="1A1A1A"/>
                </a:solidFill>
              </a:defRPr>
            </a:pPr>
            <a:r>
              <a:t>Inference:   42.7 ms (93%)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400">
                <a:solidFill>
                  <a:srgbClr val="1A1A1A"/>
                </a:solidFill>
              </a:defRPr>
            </a:pPr>
            <a:r>
              <a:t>Postprocess:  0.6 ms  (1%)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400">
                <a:solidFill>
                  <a:srgbClr val="1A1A1A"/>
                </a:solidFill>
              </a:defRPr>
            </a:pPr>
          </a:p>
          <a:p>
            <a:pPr>
              <a:spcBef>
                <a:spcPts val="300"/>
              </a:spcBef>
              <a:spcAft>
                <a:spcPts val="300"/>
              </a:spcAft>
              <a:defRPr sz="1400">
                <a:solidFill>
                  <a:srgbClr val="1A1A1A"/>
                </a:solidFill>
              </a:defRPr>
            </a:pPr>
            <a:r>
              <a:t>Total: 44 ms per image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400">
                <a:solidFill>
                  <a:srgbClr val="1A1A1A"/>
                </a:solidFill>
              </a:defRPr>
            </a:pPr>
          </a:p>
          <a:p>
            <a:pPr>
              <a:spcBef>
                <a:spcPts val="300"/>
              </a:spcBef>
              <a:spcAft>
                <a:spcPts val="300"/>
              </a:spcAft>
              <a:defRPr sz="1400">
                <a:solidFill>
                  <a:srgbClr val="1A1A1A"/>
                </a:solidFill>
              </a:defRPr>
            </a:pPr>
            <a:r>
              <a:t>Frames/Second: 22.7 FPS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0" y="914400"/>
            <a:ext cx="4114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1F4788"/>
                </a:solidFill>
              </a:defRPr>
            </a:pPr>
            <a:r>
              <a:t>What This Means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400">
                <a:solidFill>
                  <a:srgbClr val="1A1A1A"/>
                </a:solidFill>
              </a:defRPr>
            </a:pPr>
            <a:r>
              <a:t>✅ Real-time video processing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400">
                <a:solidFill>
                  <a:srgbClr val="1A1A1A"/>
                </a:solidFill>
              </a:defRPr>
            </a:pPr>
            <a:r>
              <a:t>✅ CPU-capable (no GPU needed)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400">
                <a:solidFill>
                  <a:srgbClr val="1A1A1A"/>
                </a:solidFill>
              </a:defRPr>
            </a:pPr>
            <a:r>
              <a:t>✅ Processes 1 hour video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400">
                <a:solidFill>
                  <a:srgbClr val="1A1A1A"/>
                </a:solidFill>
              </a:defRPr>
            </a:pPr>
            <a:r>
              <a:t>   in ~160 seconds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400">
                <a:solidFill>
                  <a:srgbClr val="1A1A1A"/>
                </a:solidFill>
              </a:defRPr>
            </a:pPr>
          </a:p>
          <a:p>
            <a:pPr>
              <a:spcBef>
                <a:spcPts val="300"/>
              </a:spcBef>
              <a:spcAft>
                <a:spcPts val="300"/>
              </a:spcAft>
              <a:defRPr sz="1400">
                <a:solidFill>
                  <a:srgbClr val="1A1A1A"/>
                </a:solidFill>
              </a:defRPr>
            </a:pPr>
            <a:r>
              <a:t>vs manual inspection: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400">
                <a:solidFill>
                  <a:srgbClr val="1A1A1A"/>
                </a:solidFill>
              </a:defRPr>
            </a:pPr>
            <a:r>
              <a:t>   Several hours per road segment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F4788"/>
          </a:solidFill>
          <a:ln>
            <a:solidFill>
              <a:srgbClr val="1F47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91440" lIns="274320"/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📉 Training &amp; Early Stopping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A1A1A"/>
                </a:solidFill>
              </a:defRPr>
            </a:pPr>
            <a:r>
              <a:t>✓ Model trained for 28 epochs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A1A1A"/>
                </a:solidFill>
              </a:defRPr>
            </a:pPr>
            <a:r>
              <a:t>✓ Best performance at Epoch 25 (mAP50-95: 43.2%)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A1A1A"/>
                </a:solidFill>
              </a:defRPr>
            </a:pPr>
            <a:r>
              <a:t>✓ Early stopping prevented overfitting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A1A1A"/>
                </a:solidFill>
              </a:defRPr>
            </a:pPr>
            <a:r>
              <a:t>✓ After epoch 25: Performance plateaued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A1A1A"/>
                </a:solidFill>
              </a:defRPr>
            </a:pPr>
            <a:r>
              <a:t>✓ After epoch 26-28: Slight degradation (overfitting signs)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A1A1A"/>
                </a:solidFill>
              </a:defRPr>
            </a:pPr>
            <a:r>
              <a:t>✓ Best model from epoch 25 saved for deployment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A1A1A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A1A1A"/>
                </a:solidFill>
              </a:defRPr>
            </a:pPr>
            <a:r>
              <a:t>💡 Early stopping = Better generalization to unseen data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F4788"/>
          </a:solidFill>
          <a:ln>
            <a:solidFill>
              <a:srgbClr val="1F47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91440" lIns="274320"/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💻 Code Snippet: Model Loading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A1A1A"/>
                </a:solidFill>
              </a:defRPr>
            </a:pPr>
            <a:r>
              <a:t>from ultralytics import YOLO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A1A1A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A1A1A"/>
                </a:solidFill>
              </a:defRPr>
            </a:pPr>
            <a:r>
              <a:t>model = YOLO('runs/detect/train-3/weights/best.pt')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A1A1A"/>
                </a:solidFill>
              </a:defRPr>
            </a:pPr>
            <a:r>
              <a:t>model.to('cpu')  # Run on CPU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A1A1A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A1A1A"/>
                </a:solidFill>
              </a:defRPr>
            </a:pPr>
            <a:r>
              <a:t># Predict on image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A1A1A"/>
                </a:solidFill>
              </a:defRPr>
            </a:pPr>
            <a:r>
              <a:t>results = model.predict(source='image.jpg', conf=0.5)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A1A1A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A1A1A"/>
                </a:solidFill>
              </a:defRPr>
            </a:pPr>
            <a:r>
              <a:t># Results contain boxes, confidence scores, classes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A1A1A"/>
                </a:solidFill>
              </a:defRPr>
            </a:pPr>
            <a:r>
              <a:t>for box in results[0].boxes: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A1A1A"/>
                </a:solidFill>
              </a:defRPr>
            </a:pPr>
            <a:r>
              <a:t>    confidence = box.conf.item()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F4788"/>
          </a:solidFill>
          <a:ln>
            <a:solidFill>
              <a:srgbClr val="1F47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91440" lIns="274320"/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💻 Code Snippet: Video Detection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A1A1A"/>
                </a:solidFill>
              </a:defRPr>
            </a:pPr>
            <a:r>
              <a:t>cap = cv2.VideoCapture('video.mp4')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A1A1A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A1A1A"/>
                </a:solidFill>
              </a:defRPr>
            </a:pPr>
            <a:r>
              <a:t>while True: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A1A1A"/>
                </a:solidFill>
              </a:defRPr>
            </a:pPr>
            <a:r>
              <a:t>    ret, frame = cap.read()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A1A1A"/>
                </a:solidFill>
              </a:defRPr>
            </a:pPr>
            <a:r>
              <a:t>    results = model.predict(frame, conf=0.5)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A1A1A"/>
                </a:solidFill>
              </a:defRPr>
            </a:pPr>
            <a:r>
              <a:t>    result_frame = results[0].plot()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A1A1A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A1A1A"/>
                </a:solidFill>
              </a:defRPr>
            </a:pPr>
            <a:r>
              <a:t>    if results[0].boxes: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A1A1A"/>
                </a:solidFill>
              </a:defRPr>
            </a:pPr>
            <a:r>
              <a:t>        detections += len(results[0].boxes)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A1A1A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A1A1A"/>
                </a:solidFill>
              </a:defRPr>
            </a:pPr>
            <a:r>
              <a:t># Save output video with annotations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F4788"/>
          </a:solidFill>
          <a:ln>
            <a:solidFill>
              <a:srgbClr val="1F47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91440" lIns="274320"/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💪 Strengths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A1A1A"/>
                </a:solidFill>
              </a:defRPr>
            </a:pPr>
            <a:r>
              <a:t>✅ High Precision (71.2%): Minimizes false alarms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A1A1A"/>
                </a:solidFill>
              </a:defRPr>
            </a:pPr>
            <a:r>
              <a:t>✅ Real-Time Speed (42.7ms): CPU-capable, ~23 FPS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A1A1A"/>
                </a:solidFill>
              </a:defRPr>
            </a:pPr>
            <a:r>
              <a:t>✅ Lightweight (3.2MB): Easy deployment on edge devices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A1A1A"/>
                </a:solidFill>
              </a:defRPr>
            </a:pPr>
            <a:r>
              <a:t>✅ Balanced Performance: F1 score of 67.6%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A1A1A"/>
                </a:solidFill>
              </a:defRPr>
            </a:pPr>
            <a:r>
              <a:t>✅ Production Ready: Proper validation &amp; test sets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A1A1A"/>
                </a:solidFill>
              </a:defRPr>
            </a:pPr>
            <a:r>
              <a:t>✅ Cost Effective: No expensive GPU required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A1A1A"/>
                </a:solidFill>
              </a:defRPr>
            </a:pPr>
            <a:r>
              <a:t>✅ Easy Integration: Flask web app with REST API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F4788"/>
          </a:solidFill>
          <a:ln>
            <a:solidFill>
              <a:srgbClr val="1F47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91440" lIns="274320"/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⚠️ Limitations &amp; Challenges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A1A1A"/>
                </a:solidFill>
              </a:defRPr>
            </a:pPr>
            <a:r>
              <a:t>❌ Moderate Recall (64.5%): Misses ~35% of potholes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A1A1A"/>
                </a:solidFill>
              </a:defRPr>
            </a:pPr>
            <a:r>
              <a:t>❌ Single Class: Cannot distinguish severity levels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A1A1A"/>
                </a:solidFill>
              </a:defRPr>
            </a:pPr>
            <a:r>
              <a:t>❌ Resolution Dependent: Trained on 640×640 images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A1A1A"/>
                </a:solidFill>
              </a:defRPr>
            </a:pPr>
            <a:r>
              <a:t>❌ Limited Training Data: Only 465 images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A1A1A"/>
                </a:solidFill>
              </a:defRPr>
            </a:pPr>
            <a:r>
              <a:t>❌ Environmental Sensitivity: Lighting, weather, shadows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A1A1A"/>
                </a:solidFill>
              </a:defRPr>
            </a:pPr>
            <a:r>
              <a:t>❌ False Positives: Misidentifies road features (~29%)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A1A1A"/>
                </a:solidFill>
              </a:defRPr>
            </a:pPr>
            <a:r>
              <a:t>❌ No Temporal Analysis: Frame-by-frame processing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F4788"/>
          </a:solidFill>
          <a:ln>
            <a:solidFill>
              <a:srgbClr val="1F47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91440" lIns="274320"/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⚙️ Hardware Requirements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74320" y="1097280"/>
          <a:ext cx="786384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097280"/>
                <a:gridCol w="1097280"/>
                <a:gridCol w="1097280"/>
                <a:gridCol w="1097280"/>
                <a:gridCol w="1645920"/>
              </a:tblGrid>
              <a:tr h="914400">
                <a:tc>
                  <a:txBody>
                    <a:bodyPr/>
                    <a:lstStyle/>
                    <a:p>
                      <a:r>
                        <a:rPr b="1" sz="1200">
                          <a:solidFill>
                            <a:srgbClr val="FFFFFF"/>
                          </a:solidFill>
                        </a:rPr>
                        <a:t>Setup</a:t>
                      </a:r>
                    </a:p>
                  </a:txBody>
                  <a:tcPr>
                    <a:solidFill>
                      <a:srgbClr val="1F478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200">
                          <a:solidFill>
                            <a:srgbClr val="FFFFFF"/>
                          </a:solidFill>
                        </a:rPr>
                        <a:t>CPU</a:t>
                      </a:r>
                    </a:p>
                  </a:txBody>
                  <a:tcPr>
                    <a:solidFill>
                      <a:srgbClr val="1F478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200">
                          <a:solidFill>
                            <a:srgbClr val="FFFFFF"/>
                          </a:solidFill>
                        </a:rPr>
                        <a:t>GPU</a:t>
                      </a:r>
                    </a:p>
                  </a:txBody>
                  <a:tcPr>
                    <a:solidFill>
                      <a:srgbClr val="1F478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200">
                          <a:solidFill>
                            <a:srgbClr val="FFFFFF"/>
                          </a:solidFill>
                        </a:rPr>
                        <a:t>RAM</a:t>
                      </a:r>
                    </a:p>
                  </a:txBody>
                  <a:tcPr>
                    <a:solidFill>
                      <a:srgbClr val="1F478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200">
                          <a:solidFill>
                            <a:srgbClr val="FFFFFF"/>
                          </a:solidFill>
                        </a:rPr>
                        <a:t>Cost</a:t>
                      </a:r>
                    </a:p>
                  </a:txBody>
                  <a:tcPr>
                    <a:solidFill>
                      <a:srgbClr val="1F478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200">
                          <a:solidFill>
                            <a:srgbClr val="FFFFFF"/>
                          </a:solidFill>
                        </a:rPr>
                        <a:t>Use Case</a:t>
                      </a:r>
                    </a:p>
                  </a:txBody>
                  <a:tcPr>
                    <a:solidFill>
                      <a:srgbClr val="1F4788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Minimum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i5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None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8 GB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$500-1000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Development</a:t>
                      </a:r>
                    </a:p>
                  </a:txBody>
                  <a:tcPr/>
                </a:tc>
              </a:tr>
              <a:tr h="91440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Recommended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i7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RTX 3060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32 GB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$1500-2500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City monitoring</a:t>
                      </a:r>
                    </a:p>
                  </a:txBody>
                  <a:tcPr/>
                </a:tc>
              </a:tr>
              <a:tr h="91440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Optimal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Xeon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A100/H100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64-256 GB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$50000+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Enterprise</a:t>
                      </a:r>
                    </a:p>
                  </a:txBody>
                  <a:tcPr/>
                </a:tc>
              </a:tr>
              <a:tr h="91440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Edge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ARM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Jetson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2-4 GB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$99-399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Dashcam/Mobile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F4788"/>
          </a:solidFill>
          <a:ln>
            <a:solidFill>
              <a:srgbClr val="1F47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91440" lIns="274320"/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🚀 Deployment Strategy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A1A1A"/>
                </a:solidFill>
              </a:defRPr>
            </a:pPr>
            <a:r>
              <a:t>📍 Phase 1 (Week 1-2): Pilot on 1-2 road segments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A1A1A"/>
                </a:solidFill>
              </a:defRPr>
            </a:pPr>
            <a:r>
              <a:t>📍 Phase 2 (Week 3-4): Expand to 5-10 segments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A1A1A"/>
                </a:solidFill>
              </a:defRPr>
            </a:pPr>
            <a:r>
              <a:t>📍 Phase 3 (Week 5-6): Integrate with city management system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A1A1A"/>
                </a:solidFill>
              </a:defRPr>
            </a:pPr>
            <a:r>
              <a:t>📍 Phase 4 (Month 2-3): Optimize &amp; deploy network-wide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A1A1A"/>
                </a:solidFill>
              </a:defRPr>
            </a:pPr>
            <a:r>
              <a:t>📍 Phase 5 (Month 4+): Scale to mobile apps &amp; drones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A1A1A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A1A1A"/>
                </a:solidFill>
              </a:defRPr>
            </a:pPr>
            <a:r>
              <a:t>🎯 Expected Timeline: Full rollout in 4-6 months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F4788"/>
          </a:solidFill>
          <a:ln>
            <a:solidFill>
              <a:srgbClr val="1F47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91440" lIns="274320"/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🔗 System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A1A1A"/>
                </a:solidFill>
              </a:defRPr>
            </a:pPr>
            <a:r>
              <a:t>🎥 Dashcam Integration: Process vehicle footage in real-time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A1A1A"/>
                </a:solidFill>
              </a:defRPr>
            </a:pPr>
            <a:r>
              <a:t>📱 Mobile App: Report potholes via citizen smartphone app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A1A1A"/>
                </a:solidFill>
              </a:defRPr>
            </a:pPr>
            <a:r>
              <a:t>🏢 City Systems: Auto-generate maintenance work orders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A1A1A"/>
                </a:solidFill>
              </a:defRPr>
            </a:pPr>
            <a:r>
              <a:t>☁️ Cloud Deployment: Scale across multiple road networks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A1A1A"/>
                </a:solidFill>
              </a:defRPr>
            </a:pPr>
            <a:r>
              <a:t>📊 Analytics: Track pothole frequency &amp; trends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A1A1A"/>
                </a:solidFill>
              </a:defRPr>
            </a:pPr>
            <a:r>
              <a:t>🔔 Alerts: Notify maintenance teams automatically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A1A1A"/>
                </a:solidFill>
              </a:defRPr>
            </a:pPr>
            <a:r>
              <a:t>🤖 Autonomous Vehicles: Improve self-driving safety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F4788"/>
          </a:solidFill>
          <a:ln>
            <a:solidFill>
              <a:srgbClr val="1F47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91440" lIns="274320"/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🎯 Confidence Threshold Configuration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914400"/>
            <a:ext cx="4114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1F4788"/>
                </a:solidFill>
              </a:defRPr>
            </a:pPr>
            <a:r>
              <a:t>High Precision (0.6-0.7)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400">
                <a:solidFill>
                  <a:srgbClr val="1A1A1A"/>
                </a:solidFill>
              </a:defRPr>
            </a:pPr>
            <a:r>
              <a:t>✓ Fewer false alarms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400">
                <a:solidFill>
                  <a:srgbClr val="1A1A1A"/>
                </a:solidFill>
              </a:defRPr>
            </a:pPr>
            <a:r>
              <a:t>✓ Faster response time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400">
                <a:solidFill>
                  <a:srgbClr val="1A1A1A"/>
                </a:solidFill>
              </a:defRPr>
            </a:pPr>
            <a:r>
              <a:t>✓ Less crew wasted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400">
                <a:solidFill>
                  <a:srgbClr val="1A1A1A"/>
                </a:solidFill>
              </a:defRPr>
            </a:pPr>
            <a:r>
              <a:t>✗ Miss some potholes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400">
                <a:solidFill>
                  <a:srgbClr val="1A1A1A"/>
                </a:solidFill>
              </a:defRPr>
            </a:pPr>
          </a:p>
          <a:p>
            <a:pPr>
              <a:spcBef>
                <a:spcPts val="300"/>
              </a:spcBef>
              <a:spcAft>
                <a:spcPts val="300"/>
              </a:spcAft>
              <a:defRPr sz="1400">
                <a:solidFill>
                  <a:srgbClr val="1A1A1A"/>
                </a:solidFill>
              </a:defRPr>
            </a:pPr>
            <a:r>
              <a:t>Best for: Limited budget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0" y="914400"/>
            <a:ext cx="4114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1F4788"/>
                </a:solidFill>
              </a:defRPr>
            </a:pPr>
            <a:r>
              <a:t>High Recall (0.3-0.4)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400">
                <a:solidFill>
                  <a:srgbClr val="1A1A1A"/>
                </a:solidFill>
              </a:defRPr>
            </a:pPr>
            <a:r>
              <a:t>✓ Find more potholes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400">
                <a:solidFill>
                  <a:srgbClr val="1A1A1A"/>
                </a:solidFill>
              </a:defRPr>
            </a:pPr>
            <a:r>
              <a:t>✓ Complete coverage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400">
                <a:solidFill>
                  <a:srgbClr val="1A1A1A"/>
                </a:solidFill>
              </a:defRPr>
            </a:pPr>
            <a:r>
              <a:t>✓ Initial surveys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400">
                <a:solidFill>
                  <a:srgbClr val="1A1A1A"/>
                </a:solidFill>
              </a:defRPr>
            </a:pPr>
            <a:r>
              <a:t>✗ Some false alarms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400">
                <a:solidFill>
                  <a:srgbClr val="1A1A1A"/>
                </a:solidFill>
              </a:defRPr>
            </a:pPr>
          </a:p>
          <a:p>
            <a:pPr>
              <a:spcBef>
                <a:spcPts val="300"/>
              </a:spcBef>
              <a:spcAft>
                <a:spcPts val="300"/>
              </a:spcAft>
              <a:defRPr sz="1400">
                <a:solidFill>
                  <a:srgbClr val="1A1A1A"/>
                </a:solidFill>
              </a:defRPr>
            </a:pPr>
            <a:r>
              <a:t>Best for: Full mapping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F4788"/>
          </a:solidFill>
          <a:ln>
            <a:solidFill>
              <a:srgbClr val="1F47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91440" lIns="274320"/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💰 Return on Investment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2286000" cy="1828800"/>
          </a:xfrm>
          <a:prstGeom prst="rect">
            <a:avLst/>
          </a:prstGeom>
          <a:solidFill>
            <a:srgbClr val="F8F9FA"/>
          </a:solidFill>
          <a:ln w="25400">
            <a:solidFill>
              <a:srgbClr val="FF9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2286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FF9500"/>
                </a:solidFill>
              </a:defRPr>
            </a:pPr>
            <a:r>
              <a:t>Hours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01168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F4788"/>
                </a:solidFill>
              </a:defRPr>
            </a:pPr>
            <a:r>
              <a:t>Manual Inspection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4688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>
                <a:solidFill>
                  <a:srgbClr val="1A1A1A"/>
                </a:solidFill>
              </a:defRPr>
            </a:pPr>
            <a:r>
              <a:t>per segment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0" y="1097280"/>
            <a:ext cx="2286000" cy="1828800"/>
          </a:xfrm>
          <a:prstGeom prst="rect">
            <a:avLst/>
          </a:prstGeom>
          <a:solidFill>
            <a:srgbClr val="F8F9FA"/>
          </a:solidFill>
          <a:ln w="25400">
            <a:solidFill>
              <a:srgbClr val="FF9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0" y="1280160"/>
            <a:ext cx="2286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FF9500"/>
                </a:solidFill>
              </a:defRPr>
            </a:pPr>
            <a:r>
              <a:t>Minutes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0" y="201168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F4788"/>
                </a:solidFill>
              </a:defRPr>
            </a:pPr>
            <a:r>
              <a:t>AI Inspection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0" y="24688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>
                <a:solidFill>
                  <a:srgbClr val="1A1A1A"/>
                </a:solidFill>
              </a:defRPr>
            </a:pPr>
            <a:r>
              <a:t>per segment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943600" y="1097280"/>
            <a:ext cx="2286000" cy="1828800"/>
          </a:xfrm>
          <a:prstGeom prst="rect">
            <a:avLst/>
          </a:prstGeom>
          <a:solidFill>
            <a:srgbClr val="F8F9FA"/>
          </a:solidFill>
          <a:ln w="25400">
            <a:solidFill>
              <a:srgbClr val="FF9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0" y="1280160"/>
            <a:ext cx="2286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FF9500"/>
                </a:solidFill>
              </a:defRPr>
            </a:pPr>
            <a:r>
              <a:t>80%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0" y="201168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F4788"/>
                </a:solidFill>
              </a:defRPr>
            </a:pPr>
            <a:r>
              <a:t>Cost Reduction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0" y="24688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>
                <a:solidFill>
                  <a:srgbClr val="1A1A1A"/>
                </a:solidFill>
              </a:defRPr>
            </a:pPr>
            <a:r>
              <a:t>vs manual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3474720"/>
            <a:ext cx="2286000" cy="1828800"/>
          </a:xfrm>
          <a:prstGeom prst="rect">
            <a:avLst/>
          </a:prstGeom>
          <a:solidFill>
            <a:srgbClr val="F8F9FA"/>
          </a:solidFill>
          <a:ln w="25400">
            <a:solidFill>
              <a:srgbClr val="FF9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3657600"/>
            <a:ext cx="2286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FF9500"/>
                </a:solidFill>
              </a:defRPr>
            </a:pPr>
            <a:r>
              <a:t>90%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438912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F4788"/>
                </a:solidFill>
              </a:defRPr>
            </a:pPr>
            <a:r>
              <a:t>Time Saved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48463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>
                <a:solidFill>
                  <a:srgbClr val="1A1A1A"/>
                </a:solidFill>
              </a:defRPr>
            </a:pPr>
            <a:r>
              <a:t>faster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00400" y="3474720"/>
            <a:ext cx="2286000" cy="1828800"/>
          </a:xfrm>
          <a:prstGeom prst="rect">
            <a:avLst/>
          </a:prstGeom>
          <a:solidFill>
            <a:srgbClr val="F8F9FA"/>
          </a:solidFill>
          <a:ln w="25400">
            <a:solidFill>
              <a:srgbClr val="FF9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200400" y="3657600"/>
            <a:ext cx="2286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FF9500"/>
                </a:solidFill>
              </a:defRPr>
            </a:pPr>
            <a:r>
              <a:t>6 months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00400" y="438912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F4788"/>
                </a:solidFill>
              </a:defRPr>
            </a:pPr>
            <a:r>
              <a:t>Break-even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200400" y="48463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>
                <a:solidFill>
                  <a:srgbClr val="1A1A1A"/>
                </a:solidFill>
              </a:defRPr>
            </a:pPr>
            <a:r>
              <a:t>ROI timeline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943600" y="3474720"/>
            <a:ext cx="2286000" cy="1828800"/>
          </a:xfrm>
          <a:prstGeom prst="rect">
            <a:avLst/>
          </a:prstGeom>
          <a:solidFill>
            <a:srgbClr val="F8F9FA"/>
          </a:solidFill>
          <a:ln w="25400">
            <a:solidFill>
              <a:srgbClr val="FF9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943600" y="3657600"/>
            <a:ext cx="2286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FF9500"/>
                </a:solidFill>
              </a:defRPr>
            </a:pPr>
            <a:r>
              <a:t>$500K+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43600" y="438912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F4788"/>
                </a:solidFill>
              </a:defRPr>
            </a:pPr>
            <a:r>
              <a:t>Annual Savings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43600" y="48463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>
                <a:solidFill>
                  <a:srgbClr val="1A1A1A"/>
                </a:solidFill>
              </a:defRPr>
            </a:pPr>
            <a:r>
              <a:t>typical city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F4788"/>
          </a:solidFill>
          <a:ln>
            <a:solidFill>
              <a:srgbClr val="1F47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91440" lIns="274320"/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🛣️ Improvement Roadmap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A1A1A"/>
                </a:solidFill>
              </a:defRPr>
            </a:pPr>
            <a:r>
              <a:t>Phase 1: Expand training data to 2000+ images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A1A1A"/>
                </a:solidFill>
              </a:defRPr>
            </a:pPr>
            <a:r>
              <a:t>Phase 2: Add multi-class detection (pothole severity)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A1A1A"/>
                </a:solidFill>
              </a:defRPr>
            </a:pPr>
            <a:r>
              <a:t>Phase 3: Test larger models (YOLOv8s/m) with GPU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A1A1A"/>
                </a:solidFill>
              </a:defRPr>
            </a:pPr>
            <a:r>
              <a:t>Phase 4: Implement temporal analysis for video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A1A1A"/>
                </a:solidFill>
              </a:defRPr>
            </a:pPr>
            <a:r>
              <a:t>Phase 5: Train region-specific models (urban/rural/climate)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A1A1A"/>
                </a:solidFill>
              </a:defRPr>
            </a:pPr>
            <a:r>
              <a:t>Phase 6: Deploy ensemble methods for higher accuracy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A1A1A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A1A1A"/>
                </a:solidFill>
              </a:defRPr>
            </a:pPr>
            <a:r>
              <a:t>💡 Each phase: 10-20% accuracy improvement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F4788"/>
          </a:solidFill>
          <a:ln>
            <a:solidFill>
              <a:srgbClr val="1F47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91440" lIns="274320"/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📋 Implementation Recommendations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A1A1A"/>
                </a:solidFill>
              </a:defRPr>
            </a:pPr>
            <a:r>
              <a:t>1. Start Small: Pilot on 1-2 road segments first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A1A1A"/>
                </a:solidFill>
              </a:defRPr>
            </a:pPr>
            <a:r>
              <a:t>2. Validate Results: Compare AI vs manual inspection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A1A1A"/>
                </a:solidFill>
              </a:defRPr>
            </a:pPr>
            <a:r>
              <a:t>3. Collect Local Data: Retrain model with local conditions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A1A1A"/>
                </a:solidFill>
              </a:defRPr>
            </a:pPr>
            <a:r>
              <a:t>4. Set Thresholds: Choose precision/recall trade-off wisely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A1A1A"/>
                </a:solidFill>
              </a:defRPr>
            </a:pPr>
            <a:r>
              <a:t>5. Train Team: Educate maintenance staff on system usage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A1A1A"/>
                </a:solidFill>
              </a:defRPr>
            </a:pPr>
            <a:r>
              <a:t>6. Monitor Performance: Track detection accuracy continuously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A1A1A"/>
                </a:solidFill>
              </a:defRPr>
            </a:pPr>
            <a:r>
              <a:t>7. Plan Upgrades: Budget for larger model training later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F4788"/>
          </a:solidFill>
          <a:ln>
            <a:solidFill>
              <a:srgbClr val="1F47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91440" lIns="274320"/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✅ Production Readiness Checklist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A1A1A"/>
                </a:solidFill>
              </a:defRPr>
            </a:pPr>
            <a:r>
              <a:t>✓ Model trained &amp; validated on diverse dataset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A1A1A"/>
                </a:solidFill>
              </a:defRPr>
            </a:pPr>
            <a:r>
              <a:t>✓ 71.2% precision: Reliable enough for production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A1A1A"/>
                </a:solidFill>
              </a:defRPr>
            </a:pPr>
            <a:r>
              <a:t>✓ Real-time performance: 42.7ms per image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A1A1A"/>
                </a:solidFill>
              </a:defRPr>
            </a:pPr>
            <a:r>
              <a:t>✓ Lightweight: Only 3.2MB, portable deployment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A1A1A"/>
                </a:solidFill>
              </a:defRPr>
            </a:pPr>
            <a:r>
              <a:t>✓ Web interface: Easy for non-technical users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A1A1A"/>
                </a:solidFill>
              </a:defRPr>
            </a:pPr>
            <a:r>
              <a:t>✓ API endpoints: Ready for system integration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A1A1A"/>
                </a:solidFill>
              </a:defRPr>
            </a:pPr>
            <a:r>
              <a:t>✓ Documentation: Complete code &amp; deployment guides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A1A1A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A1A1A"/>
                </a:solidFill>
              </a:defRPr>
            </a:pPr>
            <a:r>
              <a:t>🎯 STATUS: PRODUCTION READY ✅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F4788"/>
          </a:solidFill>
          <a:ln>
            <a:solidFill>
              <a:srgbClr val="1F47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91440" lIns="274320"/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🎯 Target Stakeholders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A1A1A"/>
                </a:solidFill>
              </a:defRPr>
            </a:pPr>
            <a:r>
              <a:t>🏛️ Municipal Governments: Automate road inspections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A1A1A"/>
                </a:solidFill>
              </a:defRPr>
            </a:pPr>
            <a:r>
              <a:t>🚗 Transportation Departments: Monitor highway conditions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A1A1A"/>
                </a:solidFill>
              </a:defRPr>
            </a:pPr>
            <a:r>
              <a:t>📦 Delivery Services: Track road quality for fleet management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A1A1A"/>
                </a:solidFill>
              </a:defRPr>
            </a:pPr>
            <a:r>
              <a:t>🏥 Insurance Companies: Assess liability &amp; claims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A1A1A"/>
                </a:solidFill>
              </a:defRPr>
            </a:pPr>
            <a:r>
              <a:t>🤖 Autonomous Vehicle Companies: Improve hazard detection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A1A1A"/>
                </a:solidFill>
              </a:defRPr>
            </a:pPr>
            <a:r>
              <a:t>🌆 Smart City Initiatives: Part of urban monitoring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A1A1A"/>
                </a:solidFill>
              </a:defRPr>
            </a:pPr>
            <a:r>
              <a:t>🚕 Fleet Management: Optimize vehicle maintenance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F4788"/>
          </a:solidFill>
          <a:ln>
            <a:solidFill>
              <a:srgbClr val="1F47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91440" lIns="274320"/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📊 Expected Outcomes (12 Months)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2286000" cy="1828800"/>
          </a:xfrm>
          <a:prstGeom prst="rect">
            <a:avLst/>
          </a:prstGeom>
          <a:solidFill>
            <a:srgbClr val="F8F9FA"/>
          </a:solidFill>
          <a:ln w="25400">
            <a:solidFill>
              <a:srgbClr val="FF9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2286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FF9500"/>
                </a:solidFill>
              </a:defRPr>
            </a:pPr>
            <a:r>
              <a:t>80%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01168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F4788"/>
                </a:solidFill>
              </a:defRPr>
            </a:pPr>
            <a:r>
              <a:t>Cost Reduction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4688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>
                <a:solidFill>
                  <a:srgbClr val="1A1A1A"/>
                </a:solidFill>
              </a:defRPr>
            </a:pPr>
            <a:r>
              <a:t>inspection costs down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0" y="1097280"/>
            <a:ext cx="2286000" cy="1828800"/>
          </a:xfrm>
          <a:prstGeom prst="rect">
            <a:avLst/>
          </a:prstGeom>
          <a:solidFill>
            <a:srgbClr val="F8F9FA"/>
          </a:solidFill>
          <a:ln w="25400">
            <a:solidFill>
              <a:srgbClr val="FF9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0" y="1280160"/>
            <a:ext cx="2286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FF9500"/>
                </a:solidFill>
              </a:defRPr>
            </a:pPr>
            <a:r>
              <a:t>3x faster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0" y="201168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F4788"/>
                </a:solidFill>
              </a:defRPr>
            </a:pPr>
            <a:r>
              <a:t>Response Time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0" y="24688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>
                <a:solidFill>
                  <a:srgbClr val="1A1A1A"/>
                </a:solidFill>
              </a:defRPr>
            </a:pPr>
            <a:r>
              <a:t>repairs scheduled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943600" y="1097280"/>
            <a:ext cx="2286000" cy="1828800"/>
          </a:xfrm>
          <a:prstGeom prst="rect">
            <a:avLst/>
          </a:prstGeom>
          <a:solidFill>
            <a:srgbClr val="F8F9FA"/>
          </a:solidFill>
          <a:ln w="25400">
            <a:solidFill>
              <a:srgbClr val="FF9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0" y="1280160"/>
            <a:ext cx="2286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FF9500"/>
                </a:solidFill>
              </a:defRPr>
            </a:pPr>
            <a:r>
              <a:t>64.5%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0" y="201168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F4788"/>
                </a:solidFill>
              </a:defRPr>
            </a:pPr>
            <a:r>
              <a:t>Detection Rate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0" y="24688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>
                <a:solidFill>
                  <a:srgbClr val="1A1A1A"/>
                </a:solidFill>
              </a:defRPr>
            </a:pPr>
            <a:r>
              <a:t>pothole coverage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3474720"/>
            <a:ext cx="2286000" cy="1828800"/>
          </a:xfrm>
          <a:prstGeom prst="rect">
            <a:avLst/>
          </a:prstGeom>
          <a:solidFill>
            <a:srgbClr val="F8F9FA"/>
          </a:solidFill>
          <a:ln w="25400">
            <a:solidFill>
              <a:srgbClr val="FF9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3657600"/>
            <a:ext cx="2286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FF9500"/>
                </a:solidFill>
              </a:defRPr>
            </a:pPr>
            <a:r>
              <a:t>↑ 40%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438912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F4788"/>
                </a:solidFill>
              </a:defRPr>
            </a:pPr>
            <a:r>
              <a:t>Safety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48463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>
                <a:solidFill>
                  <a:srgbClr val="1A1A1A"/>
                </a:solidFill>
              </a:defRPr>
            </a:pPr>
            <a:r>
              <a:t>fewer incidents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00400" y="3474720"/>
            <a:ext cx="2286000" cy="1828800"/>
          </a:xfrm>
          <a:prstGeom prst="rect">
            <a:avLst/>
          </a:prstGeom>
          <a:solidFill>
            <a:srgbClr val="F8F9FA"/>
          </a:solidFill>
          <a:ln w="25400">
            <a:solidFill>
              <a:srgbClr val="FF9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200400" y="3657600"/>
            <a:ext cx="2286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FF9500"/>
                </a:solidFill>
              </a:defRPr>
            </a:pPr>
            <a:r>
              <a:t>1000+ images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00400" y="438912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F4788"/>
                </a:solidFill>
              </a:defRPr>
            </a:pPr>
            <a:r>
              <a:t>Data Quality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200400" y="48463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>
                <a:solidFill>
                  <a:srgbClr val="1A1A1A"/>
                </a:solidFill>
              </a:defRPr>
            </a:pPr>
            <a:r>
              <a:t>local training data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943600" y="3474720"/>
            <a:ext cx="2286000" cy="1828800"/>
          </a:xfrm>
          <a:prstGeom prst="rect">
            <a:avLst/>
          </a:prstGeom>
          <a:solidFill>
            <a:srgbClr val="F8F9FA"/>
          </a:solidFill>
          <a:ln w="25400">
            <a:solidFill>
              <a:srgbClr val="FF9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943600" y="3657600"/>
            <a:ext cx="2286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FF9500"/>
                </a:solidFill>
              </a:defRPr>
            </a:pPr>
            <a:r>
              <a:t>✅ Positive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43600" y="438912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F4788"/>
                </a:solidFill>
              </a:defRPr>
            </a:pPr>
            <a:r>
              <a:t>System ROI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43600" y="48463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>
                <a:solidFill>
                  <a:srgbClr val="1A1A1A"/>
                </a:solidFill>
              </a:defRPr>
            </a:pPr>
            <a:r>
              <a:t>within 6 months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478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6000" b="1">
                <a:solidFill>
                  <a:srgbClr val="FFFFFF"/>
                </a:solidFill>
              </a:defRPr>
            </a:pPr>
            <a:r>
              <a:t>Questions?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474720"/>
            <a:ext cx="8229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i="1">
                <a:solidFill>
                  <a:srgbClr val="FFFFFF"/>
                </a:solidFill>
              </a:defRPr>
            </a:pPr>
            <a:r>
              <a:t>Next Steps: Pilot Program in Selected Road Segments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